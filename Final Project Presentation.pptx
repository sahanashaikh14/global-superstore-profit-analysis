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4" r:id="rId11"/>
    <p:sldId id="275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6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2B17-B860-4228-9C68-8FD29C203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8FB60-2E91-4611-8C53-DC412F18B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D24D0-DCC2-48E7-B802-DBA3092CB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6F44-A865-477D-B81B-44924609BA09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41838-EA1F-4CF6-9EFC-3F927AF5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B1A0B-D57E-4C6B-940F-6898C0BB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E673-C6C3-47A0-AF9C-D169C994AF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30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FD387-3CE4-4485-8633-1AA17BDA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FCCF-E45D-4936-9CEC-2BCFCB41E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74636-E224-4038-BCAD-7F01519C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6F44-A865-477D-B81B-44924609BA09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88CE5-2FD0-432C-9F77-CC2FAC924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6CD21-D8C4-4663-A72B-21A8ECA5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E673-C6C3-47A0-AF9C-D169C994AF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4922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604A1-6E63-4865-AFFD-4491A707E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B16C6-3035-457C-9A64-FB7852FE0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A5DF0-3C35-4CCF-8FE8-0467F4E4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6F44-A865-477D-B81B-44924609BA09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E86F5-5562-4AE0-8C08-D98067F9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6CFF6-02AF-4225-BA34-B30F6CAF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E673-C6C3-47A0-AF9C-D169C994AF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888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7F36-BE0C-48D9-8B28-4DEE38FB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9B6D-3696-4AD4-BBFD-9969C395D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27B14-308E-4F75-9230-0F18B71FC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937D8-63B8-4568-A117-3995D0C6A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6F44-A865-477D-B81B-44924609BA09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E22E1-7D0E-4AB2-9275-5E725DEE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40E26-FF8E-4BDA-82FD-B3659C52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E673-C6C3-47A0-AF9C-D169C994AF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149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58DE3-F3AD-4800-B63D-F79167C38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7AFB0-2FAF-4644-9A84-116803A20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77E66-979B-4935-B59B-8FEA008C5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0DA03-C79C-44B7-A91E-296CD329E2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7DF0BE-672B-417C-8780-7B4905B9F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A14533-0A11-4234-9F54-D0927DAD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6F44-A865-477D-B81B-44924609BA09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405DA-C14F-44BA-A1DF-3B49F9C4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5F536-F8F6-4A9E-BBB6-14D0CB92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E673-C6C3-47A0-AF9C-D169C994AF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270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3C0D-26A7-4887-9B1F-384308D6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AF7F3-56A7-44AF-A7EE-1EDB98276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6F44-A865-477D-B81B-44924609BA09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7D1D88-A475-4728-ADB9-12D88B9D9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E61FB-46D3-42BB-851A-7C98C7A4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E673-C6C3-47A0-AF9C-D169C994AF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9407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770F5A-1717-4D9D-81A3-2A69BEA83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6F44-A865-477D-B81B-44924609BA09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C3364-1986-4AFC-A3C4-5EC0329C7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8FB14-7B65-430D-9E4B-92FD86CE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E673-C6C3-47A0-AF9C-D169C994AF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0350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C727-4435-4942-AD9B-B98C50C42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BE8CC-63D3-4EEB-9DCC-2CD078245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36CCE-D5D9-4384-81E7-BDDAC652B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0FD97-A4C4-46C5-9891-32B484DD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6F44-A865-477D-B81B-44924609BA09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E7A65-2AEF-478B-B9BA-6D449123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69452-8D2A-4A31-B12D-C8B85D9C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E673-C6C3-47A0-AF9C-D169C994AF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223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C493-2FD8-4492-B728-59274617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998FF2-986A-4932-9C67-867F93C3E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5F397-AE36-4BC3-ACA9-12082C1CD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D7A3B-38B1-479A-8FF7-68F3321B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6F44-A865-477D-B81B-44924609BA09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DAEFB-E520-4BBF-ACAF-B02BDEDB6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9C6EE-489F-4CA8-9FB6-BE036891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E673-C6C3-47A0-AF9C-D169C994AF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708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FCB1-664E-40F5-8627-227A121E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24726-4534-4FD4-889F-B94CCA4C5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82805-1B69-4D79-99BB-F475F058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6F44-A865-477D-B81B-44924609BA09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AA2CB-9598-4671-A794-ABF36A88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CFE6-06D6-48C7-84D3-F31F5BA7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E673-C6C3-47A0-AF9C-D169C994AF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8525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6E5A5-6DBA-45F0-9809-AC3047DCF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DD42-0D00-4B3E-AB91-88C5E5A76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A9584-E7E7-4411-AF9E-157B4628C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86F44-A865-477D-B81B-44924609BA09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4D3AF-88D6-40DE-ABF2-9C00E4A0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6A373-A950-4EED-8E65-EF18DD0C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E673-C6C3-47A0-AF9C-D169C994AF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545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F88217-90F6-45B0-8AA8-A7D5EE71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D7526-20E7-4658-BD52-47B3BCF15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F9EC-3059-4C5A-B5E8-B87D54E769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86F44-A865-477D-B81B-44924609BA09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31155-91DD-426D-9B6F-CEFA93234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0D38B-AC0B-4BB3-8542-1384AB6C3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DE673-C6C3-47A0-AF9C-D169C994AF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039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E3672E-9B47-4EC0-B39D-411EA59A7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Sales and Profit Optimization for Retail Decision Support</a:t>
            </a:r>
            <a:endParaRPr lang="en-CA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9EBFDE-1CB4-43F4-BF40-8EE6847FA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Sahanabanu</a:t>
            </a:r>
            <a:r>
              <a:rPr lang="en-US" dirty="0"/>
              <a:t> Shaikh </a:t>
            </a:r>
            <a:br>
              <a:rPr lang="en-US" dirty="0"/>
            </a:br>
            <a:r>
              <a:rPr lang="en-US" dirty="0"/>
              <a:t>Student ID: 501342966 </a:t>
            </a:r>
            <a:br>
              <a:rPr lang="en-US" dirty="0"/>
            </a:br>
            <a:r>
              <a:rPr lang="en-US" dirty="0"/>
              <a:t>CIND820 – Big Data Analytics Project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1187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8AACC-A0C8-45CB-8376-9B2D7C5B6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353"/>
            <a:ext cx="10515600" cy="47426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Problem:</a:t>
            </a:r>
          </a:p>
          <a:p>
            <a:pPr marL="0" indent="0">
              <a:buNone/>
            </a:pPr>
            <a:r>
              <a:rPr lang="en-US" dirty="0"/>
              <a:t>• Discounts increase sales but reduce profit  </a:t>
            </a:r>
          </a:p>
          <a:p>
            <a:pPr marL="0" indent="0">
              <a:buNone/>
            </a:pPr>
            <a:r>
              <a:rPr lang="en-US" dirty="0"/>
              <a:t>• High sales ≠ High profitability  </a:t>
            </a:r>
          </a:p>
          <a:p>
            <a:pPr marL="0" indent="0">
              <a:buNone/>
            </a:pPr>
            <a:r>
              <a:rPr lang="en-US" dirty="0"/>
              <a:t>• Lack of data-driven pricing decisions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Goal:</a:t>
            </a:r>
          </a:p>
          <a:p>
            <a:r>
              <a:rPr lang="en-US" dirty="0"/>
              <a:t>Improve profit-focused decision-making using data.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280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B82B5-FCB2-465F-BBD5-745626DA9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Research Questions: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What factors influence profitability in retail transactions?  </a:t>
            </a:r>
          </a:p>
          <a:p>
            <a:pPr marL="0" indent="0">
              <a:buNone/>
            </a:pPr>
            <a:r>
              <a:rPr lang="en-US" dirty="0"/>
              <a:t>2. Can profit be predicted accurately using historical data?  </a:t>
            </a:r>
          </a:p>
          <a:p>
            <a:pPr marL="0" indent="0">
              <a:buNone/>
            </a:pPr>
            <a:r>
              <a:rPr lang="en-US" dirty="0"/>
              <a:t>3. Can transactions be classified as profitable or loss-making?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911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9C0C5-53B7-417B-A0AC-D1AFC0A12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746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Dataset: Global Superstore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• 51,290 transactions  </a:t>
            </a:r>
          </a:p>
          <a:p>
            <a:pPr marL="0" indent="0">
              <a:buNone/>
            </a:pPr>
            <a:r>
              <a:rPr lang="en-CA" dirty="0"/>
              <a:t>• 27 variables  </a:t>
            </a:r>
          </a:p>
          <a:p>
            <a:pPr marL="0" indent="0">
              <a:buNone/>
            </a:pPr>
            <a:r>
              <a:rPr lang="en-CA" dirty="0"/>
              <a:t>• Transaction-level data 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US" dirty="0"/>
              <a:t>Each row represents a transaction with details like sales, profit, discount, and quantity.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Additional variables include product category and region.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41774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33BE2-7B99-47FD-95B3-44D802246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05" y="58849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Methodology: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Data Cleaning  </a:t>
            </a:r>
          </a:p>
          <a:p>
            <a:pPr marL="0" indent="0">
              <a:buNone/>
            </a:pPr>
            <a:r>
              <a:rPr lang="en-US" dirty="0"/>
              <a:t>2. Exploratory Data Analysis  </a:t>
            </a:r>
          </a:p>
          <a:p>
            <a:pPr marL="0" indent="0">
              <a:buNone/>
            </a:pPr>
            <a:r>
              <a:rPr lang="en-US" dirty="0"/>
              <a:t>3. Feature Selection  </a:t>
            </a:r>
          </a:p>
          <a:p>
            <a:pPr marL="0" indent="0">
              <a:buNone/>
            </a:pPr>
            <a:r>
              <a:rPr lang="en-US" dirty="0"/>
              <a:t>4. Model Development  </a:t>
            </a:r>
          </a:p>
          <a:p>
            <a:pPr marL="0" indent="0">
              <a:buNone/>
            </a:pPr>
            <a:r>
              <a:rPr lang="en-US" dirty="0"/>
              <a:t>5. Model Evaluation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353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755D7-8EC9-42A1-A872-B9E4E9DC1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83" y="35270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Profit Distribution</a:t>
            </a:r>
          </a:p>
          <a:p>
            <a:pPr marL="0" indent="0">
              <a:buNone/>
            </a:pPr>
            <a:r>
              <a:rPr lang="en-US" dirty="0"/>
              <a:t>• Highly variable </a:t>
            </a:r>
            <a:r>
              <a:rPr lang="en-CA" dirty="0"/>
              <a:t>across transactions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• Includes both large gains and losses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CA" dirty="0"/>
              <a:t>Insight:</a:t>
            </a:r>
            <a:br>
              <a:rPr lang="en-CA" dirty="0"/>
            </a:br>
            <a:r>
              <a:rPr lang="en-US" dirty="0"/>
              <a:t>This shows that profitability is </a:t>
            </a:r>
          </a:p>
          <a:p>
            <a:pPr marL="0" indent="0">
              <a:buNone/>
            </a:pPr>
            <a:r>
              <a:rPr lang="en-US" dirty="0"/>
              <a:t>not consistent.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67016-6987-46F7-A3C3-C01275FB0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17" y="1865671"/>
            <a:ext cx="6782388" cy="44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2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95E5B-B4F4-4338-B922-8E47E4009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79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Discount vs Profit</a:t>
            </a:r>
          </a:p>
          <a:p>
            <a:pPr marL="0" indent="0">
              <a:buNone/>
            </a:pPr>
            <a:r>
              <a:rPr lang="en-US" dirty="0"/>
              <a:t>• Strong negative relationship </a:t>
            </a:r>
            <a:r>
              <a:rPr lang="en-CA" dirty="0"/>
              <a:t>between discount and profit. 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• Higher discount → lower profit</a:t>
            </a:r>
          </a:p>
          <a:p>
            <a:pPr marL="0" indent="0">
              <a:buNone/>
            </a:pPr>
            <a:r>
              <a:rPr lang="en-US" dirty="0"/>
              <a:t>This highlights the risk of aggressive</a:t>
            </a:r>
          </a:p>
          <a:p>
            <a:pPr marL="0" indent="0">
              <a:buNone/>
            </a:pPr>
            <a:r>
              <a:rPr lang="en-US" dirty="0"/>
              <a:t> discounting strategies.</a:t>
            </a:r>
          </a:p>
          <a:p>
            <a:pPr marL="0" indent="0">
              <a:buNone/>
            </a:pPr>
            <a:r>
              <a:rPr lang="en-US" dirty="0"/>
              <a:t>Insight:</a:t>
            </a:r>
            <a:br>
              <a:rPr lang="en-US" dirty="0"/>
            </a:br>
            <a:r>
              <a:rPr lang="en-US" dirty="0"/>
              <a:t>Discount is a major driver of </a:t>
            </a:r>
          </a:p>
          <a:p>
            <a:pPr marL="0" indent="0">
              <a:buNone/>
            </a:pPr>
            <a:r>
              <a:rPr lang="en-US" dirty="0"/>
              <a:t>profit loss 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FBB51-31E3-49E2-9783-BBAC90D2A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888" y="2399914"/>
            <a:ext cx="6828112" cy="44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35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0A683-D4F5-4A8A-8C13-CAE0115B3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57" y="85743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Sales vs Profit</a:t>
            </a:r>
          </a:p>
          <a:p>
            <a:pPr marL="0" indent="0">
              <a:buNone/>
            </a:pPr>
            <a:r>
              <a:rPr lang="en-US" dirty="0"/>
              <a:t>• No </a:t>
            </a:r>
            <a:r>
              <a:rPr lang="en-CA" dirty="0"/>
              <a:t>strong</a:t>
            </a:r>
            <a:r>
              <a:rPr lang="en-US" dirty="0"/>
              <a:t> positive relationship  </a:t>
            </a:r>
          </a:p>
          <a:p>
            <a:pPr marL="0" indent="0">
              <a:buNone/>
            </a:pPr>
            <a:r>
              <a:rPr lang="en-US" dirty="0"/>
              <a:t>• High sales ≠ high profit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Insight:</a:t>
            </a:r>
            <a:br>
              <a:rPr lang="en-US" dirty="0"/>
            </a:br>
            <a:r>
              <a:rPr lang="en-US" dirty="0"/>
              <a:t>This shows that revenue alone is </a:t>
            </a:r>
          </a:p>
          <a:p>
            <a:pPr marL="0" indent="0">
              <a:buNone/>
            </a:pPr>
            <a:r>
              <a:rPr lang="en-US" dirty="0"/>
              <a:t>not a good indicator of</a:t>
            </a:r>
          </a:p>
          <a:p>
            <a:pPr marL="0" indent="0">
              <a:buNone/>
            </a:pPr>
            <a:r>
              <a:rPr lang="en-US" dirty="0"/>
              <a:t> performance.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349EAA-D961-4463-970B-CCFF5F4B9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205" y="1392701"/>
            <a:ext cx="6797629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94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5244-3CB8-484C-B6AC-5C87DFB49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23" y="2014631"/>
            <a:ext cx="10515600" cy="1325563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Sales by Category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• Technology → highest sales  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• Office Supplies → moderate  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• Furniture → lower sales  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 err="1">
                <a:latin typeface="+mn-lt"/>
              </a:rPr>
              <a:t>Insight:Product</a:t>
            </a:r>
            <a:r>
              <a:rPr lang="en-US" sz="2800" dirty="0">
                <a:latin typeface="+mn-lt"/>
              </a:rPr>
              <a:t> category affects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 performance</a:t>
            </a:r>
            <a:endParaRPr lang="en-CA" sz="28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4B93A1-4E36-4B3A-95FC-9E829D727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3687" y="867849"/>
            <a:ext cx="6575190" cy="4351338"/>
          </a:xfrm>
        </p:spPr>
      </p:pic>
    </p:spTree>
    <p:extLst>
      <p:ext uri="{BB962C8B-B14F-4D97-AF65-F5344CB8AC3E}">
        <p14:creationId xmlns:p14="http://schemas.microsoft.com/office/powerpoint/2010/main" val="1723675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BC32F-7A3F-4B8F-9D28-3588D577A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4" y="2525619"/>
            <a:ext cx="10515600" cy="1325563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Sales by Region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• Sales vary across regions  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• Some regions outperform others  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Insight: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Geographic factors influence performance</a:t>
            </a:r>
            <a:endParaRPr lang="en-CA" sz="28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472596-BD7B-40FF-8A7C-A19A3BE1D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6260" y="1012730"/>
            <a:ext cx="4753950" cy="4706751"/>
          </a:xfrm>
        </p:spPr>
      </p:pic>
    </p:spTree>
    <p:extLst>
      <p:ext uri="{BB962C8B-B14F-4D97-AF65-F5344CB8AC3E}">
        <p14:creationId xmlns:p14="http://schemas.microsoft.com/office/powerpoint/2010/main" val="2632559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AE7C-82DD-42AC-8807-C9E8DDA67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67" y="2007066"/>
            <a:ext cx="10515600" cy="1325563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Correlation Heatmap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• Discount negatively correlated with profit  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• Sales moderately related to profit  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• Quantity has weak relationship  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Insight: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Relationships exist but are not 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purely linear</a:t>
            </a:r>
            <a:endParaRPr lang="en-CA" sz="28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3FC4E7-D382-46B3-A858-57203B6135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1200" y="2365654"/>
            <a:ext cx="6021433" cy="4351338"/>
          </a:xfrm>
        </p:spPr>
      </p:pic>
    </p:spTree>
    <p:extLst>
      <p:ext uri="{BB962C8B-B14F-4D97-AF65-F5344CB8AC3E}">
        <p14:creationId xmlns:p14="http://schemas.microsoft.com/office/powerpoint/2010/main" val="1107846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1625B-8FD3-42C0-A3F1-B060F03DA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409" y="71069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Models Used: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Regression:</a:t>
            </a:r>
          </a:p>
          <a:p>
            <a:pPr marL="0" indent="0">
              <a:buNone/>
            </a:pPr>
            <a:r>
              <a:rPr lang="en-US" dirty="0"/>
              <a:t>• Linear Regression  </a:t>
            </a:r>
          </a:p>
          <a:p>
            <a:pPr marL="0" indent="0">
              <a:buNone/>
            </a:pPr>
            <a:r>
              <a:rPr lang="en-US" dirty="0"/>
              <a:t>• Decision Tree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Classification:</a:t>
            </a:r>
          </a:p>
          <a:p>
            <a:pPr marL="0" indent="0">
              <a:buNone/>
            </a:pPr>
            <a:r>
              <a:rPr lang="en-US" dirty="0"/>
              <a:t>• Logistic Regression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Baseline models are used to compare performance.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69506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282C5-D827-4BDD-AC86-CCD7D88F1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06" y="902261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Regression Results: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Linear Regression:</a:t>
            </a:r>
          </a:p>
          <a:p>
            <a:pPr marL="0" indent="0">
              <a:buNone/>
            </a:pPr>
            <a:r>
              <a:rPr lang="en-US" dirty="0"/>
              <a:t>• R² ≈ 0.17 (weak)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Decision Tree:</a:t>
            </a:r>
          </a:p>
          <a:p>
            <a:pPr marL="0" indent="0">
              <a:buNone/>
            </a:pPr>
            <a:r>
              <a:rPr lang="en-US" dirty="0"/>
              <a:t>• R² ≈ 0.51 (better)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Conclusion:</a:t>
            </a:r>
          </a:p>
          <a:p>
            <a:pPr marL="0" indent="0">
              <a:buNone/>
            </a:pPr>
            <a:r>
              <a:rPr lang="en-CA" dirty="0"/>
              <a:t>Profit relationships are nonlinear</a:t>
            </a:r>
          </a:p>
        </p:txBody>
      </p:sp>
    </p:spTree>
    <p:extLst>
      <p:ext uri="{BB962C8B-B14F-4D97-AF65-F5344CB8AC3E}">
        <p14:creationId xmlns:p14="http://schemas.microsoft.com/office/powerpoint/2010/main" val="2966514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12BA1-EB66-4044-B4B6-94E68447C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012" y="71400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dirty="0"/>
              <a:t>Classification Results: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Baseline Accuracy: ~74%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Logistic Regression:</a:t>
            </a:r>
          </a:p>
          <a:p>
            <a:pPr marL="0" indent="0">
              <a:buNone/>
            </a:pPr>
            <a:r>
              <a:rPr lang="en-CA" dirty="0"/>
              <a:t>• Accuracy: 91.8%  </a:t>
            </a:r>
          </a:p>
          <a:p>
            <a:pPr marL="0" indent="0">
              <a:buNone/>
            </a:pPr>
            <a:r>
              <a:rPr lang="en-CA" dirty="0"/>
              <a:t>• Precision: 91.9%  </a:t>
            </a:r>
          </a:p>
          <a:p>
            <a:pPr marL="0" indent="0">
              <a:buNone/>
            </a:pPr>
            <a:r>
              <a:rPr lang="en-CA" dirty="0"/>
              <a:t>• Recall: 97.5% 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Insight:</a:t>
            </a:r>
          </a:p>
          <a:p>
            <a:pPr marL="0" indent="0">
              <a:buNone/>
            </a:pPr>
            <a:r>
              <a:rPr lang="en-CA" dirty="0"/>
              <a:t>Strong classification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3514951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E61EA-AC38-4141-ACA0-689B1C96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430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Confusion Matrix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• False Positive → risky decision  </a:t>
            </a:r>
          </a:p>
          <a:p>
            <a:pPr marL="0" indent="0">
              <a:buNone/>
            </a:pPr>
            <a:r>
              <a:rPr lang="en-CA" dirty="0"/>
              <a:t>• False Negative → missed opportunity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AE9E4E-5099-44D6-BC9C-F93CE45F2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332" y="652666"/>
            <a:ext cx="5204911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17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92AD1-802D-44C2-9274-A6CD7E22D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70" y="8215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Key Findings: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Discount significantly reduces profit  </a:t>
            </a:r>
          </a:p>
          <a:p>
            <a:pPr marL="0" indent="0">
              <a:buNone/>
            </a:pPr>
            <a:r>
              <a:rPr lang="en-US" dirty="0"/>
              <a:t>• Profit depends on multiple interacting factors  </a:t>
            </a:r>
          </a:p>
          <a:p>
            <a:pPr marL="0" indent="0">
              <a:buNone/>
            </a:pPr>
            <a:r>
              <a:rPr lang="en-US" dirty="0"/>
              <a:t>• Nonlinear models outperform linear models  </a:t>
            </a:r>
          </a:p>
          <a:p>
            <a:pPr marL="0" indent="0">
              <a:buNone/>
            </a:pPr>
            <a:r>
              <a:rPr lang="en-US" dirty="0"/>
              <a:t>• Classification helps identify high-risk transactions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45876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8F94-02E1-429D-B6FB-86B41AF60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0" y="67814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Limitations: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Limited features  </a:t>
            </a:r>
          </a:p>
          <a:p>
            <a:pPr marL="0" indent="0">
              <a:buNone/>
            </a:pPr>
            <a:r>
              <a:rPr lang="en-US" dirty="0"/>
              <a:t>• No causal analysis  </a:t>
            </a:r>
          </a:p>
          <a:p>
            <a:pPr marL="0" indent="0">
              <a:buNone/>
            </a:pPr>
            <a:r>
              <a:rPr lang="en-US" dirty="0"/>
              <a:t>• Possible overfitting  </a:t>
            </a:r>
          </a:p>
          <a:p>
            <a:pPr marL="0" indent="0">
              <a:buNone/>
            </a:pPr>
            <a:r>
              <a:rPr lang="en-US" dirty="0"/>
              <a:t>• Missing cost/customer data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6720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EEA0B-E7B9-4617-9A8D-7180B81F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5" y="8215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Future Work: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Add cost &amp; customer data  </a:t>
            </a:r>
          </a:p>
          <a:p>
            <a:pPr marL="0" indent="0">
              <a:buNone/>
            </a:pPr>
            <a:r>
              <a:rPr lang="en-US" dirty="0"/>
              <a:t>• Use advanced models  </a:t>
            </a:r>
          </a:p>
          <a:p>
            <a:pPr marL="0" indent="0">
              <a:buNone/>
            </a:pPr>
            <a:r>
              <a:rPr lang="en-US" dirty="0"/>
              <a:t>• Improve feature engineering  </a:t>
            </a:r>
          </a:p>
          <a:p>
            <a:pPr marL="0" indent="0">
              <a:buNone/>
            </a:pPr>
            <a:r>
              <a:rPr lang="en-US" dirty="0"/>
              <a:t>• Time-based validation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0939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BB86A-44B2-4119-B592-E16188CE0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5" y="87536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Business Value: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Supports pricing decisions  </a:t>
            </a:r>
          </a:p>
          <a:p>
            <a:pPr marL="0" indent="0">
              <a:buNone/>
            </a:pPr>
            <a:r>
              <a:rPr lang="en-US" dirty="0"/>
              <a:t>• Reduces loss-making transactions  </a:t>
            </a:r>
          </a:p>
          <a:p>
            <a:pPr marL="0" indent="0">
              <a:buNone/>
            </a:pPr>
            <a:r>
              <a:rPr lang="en-US" dirty="0"/>
              <a:t>• Improves profitability focus  </a:t>
            </a:r>
          </a:p>
          <a:p>
            <a:pPr marL="0" indent="0">
              <a:buNone/>
            </a:pPr>
            <a:r>
              <a:rPr lang="en-US" dirty="0"/>
              <a:t>• Enables data-driven strategies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8319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D2455-59D5-4080-8E3D-8ABCA92BA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52" y="80364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Conclusion: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Profit ≠ Sales  </a:t>
            </a:r>
          </a:p>
          <a:p>
            <a:pPr marL="0" indent="0">
              <a:buNone/>
            </a:pPr>
            <a:r>
              <a:rPr lang="en-US" dirty="0"/>
              <a:t>• Discount is the strongest driver of profit  </a:t>
            </a:r>
          </a:p>
          <a:p>
            <a:pPr marL="0" indent="0">
              <a:buNone/>
            </a:pPr>
            <a:r>
              <a:rPr lang="en-US" dirty="0"/>
              <a:t>• Nonlinear models improve prediction  </a:t>
            </a:r>
          </a:p>
          <a:p>
            <a:pPr marL="0" indent="0">
              <a:buNone/>
            </a:pPr>
            <a:r>
              <a:rPr lang="en-US" dirty="0"/>
              <a:t>• Predictive analytics supports decision-making  </a:t>
            </a:r>
          </a:p>
          <a:p>
            <a:pPr marL="0" indent="0">
              <a:buNone/>
            </a:pPr>
            <a:r>
              <a:rPr lang="en-US" dirty="0"/>
              <a:t>• Results should be used with caution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5076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6D5BBC-7A23-47A2-A7AE-67DA3F1F1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2636" y="1812645"/>
            <a:ext cx="9144000" cy="2387600"/>
          </a:xfrm>
        </p:spPr>
        <p:txBody>
          <a:bodyPr/>
          <a:lstStyle/>
          <a:p>
            <a:r>
              <a:rPr lang="en-CA" dirty="0"/>
              <a:t>Thank You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E8821-7DD0-4224-A56D-7006BA774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84108"/>
            <a:ext cx="9144000" cy="1655762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800679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59</TotalTime>
  <Words>555</Words>
  <Application>Microsoft Office PowerPoint</Application>
  <PresentationFormat>Widescreen</PresentationFormat>
  <Paragraphs>120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Sales and Profit Optimization for Retail Decision Support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Sales by Category  • Technology → highest sales   • Office Supplies → moderate   • Furniture → lower sales    Insight:Product category affects  performance</vt:lpstr>
      <vt:lpstr>Sales by Region  • Sales vary across regions   • Some regions outperform others    Insight: Geographic factors influence performance</vt:lpstr>
      <vt:lpstr>Correlation Heatmap  • Discount negatively correlated with profit   • Sales moderately related to profit   • Quantity has weak relationship    Insight: Relationships exist but are not  purely linear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and Profit Optimization for Retail Decision Support</dc:title>
  <dc:creator>sahanash1411@gmail.com</dc:creator>
  <cp:lastModifiedBy>sahanash1411@gmail.com</cp:lastModifiedBy>
  <cp:revision>10</cp:revision>
  <dcterms:created xsi:type="dcterms:W3CDTF">2026-04-14T02:58:20Z</dcterms:created>
  <dcterms:modified xsi:type="dcterms:W3CDTF">2026-04-14T03:58:12Z</dcterms:modified>
</cp:coreProperties>
</file>